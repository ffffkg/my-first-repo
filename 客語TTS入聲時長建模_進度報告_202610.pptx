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65f996b3-6296-9944-e3a3-fe853481505d}">
          <p14:sldIdLst>
            <p14:sldId id="256"/>
          </p14:sldIdLst>
        </p14:section>
        <p14:section name="成果" id="{cf35749a-9d4f-5da3-9314-3d2bdec951c1}">
          <p14:sldIdLst>
            <p14:sldId id="257"/>
            <p14:sldId id="258"/>
          </p14:sldIdLst>
        </p14:section>
        <p14:section name="方法與結果" id="{07506152-413a-e97b-eef0-fd1825bf9ac3}">
          <p14:sldIdLst>
            <p14:sldId id="259"/>
            <p14:sldId id="260"/>
          </p14:sldIdLst>
        </p14:section>
        <p14:section name="問題與診斷" id="{ad1d6035-fa9b-ebab-ef6c-bef453eac4f8}">
          <p14:sldIdLst>
            <p14:sldId id="261"/>
            <p14:sldId id="262"/>
            <p14:sldId id="263"/>
          </p14:sldIdLst>
        </p14:section>
        <p14:section name="感知評估" id="{5d714f0e-2402-0e58-e41c-7d2f42f49b50}">
          <p14:sldIdLst>
            <p14:sldId id="264"/>
          </p14:sldIdLst>
        </p14:section>
        <p14:section name="後續" id="{cad19ae0-2363-488a-c28d-a5b56947f9dc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+mn-lt"/>
              </a:rPr>
              <a:t>海陸 baseline 的時長偏差（ms）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attention 量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+0.0;-0.0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入聲偏差</c:v>
                  </c:pt>
                  <c:pt idx="1">
                    <c:v>舒聲偏差</c:v>
                  </c:pt>
                  <c:pt idx="2">
                    <c:v>入聲 − 舒聲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20.4</c:v>
                </c:pt>
                <c:pt idx="1">
                  <c:v>9.4</c:v>
                </c:pt>
                <c:pt idx="2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從波形量（D1）</c:v>
                </c:pt>
              </c:strCache>
            </c:strRef>
          </c:tx>
          <c:spPr>
            <a:solidFill>
              <a:srgbClr val="233D63"/>
            </a:solidFill>
            <a:effectLst/>
          </c:spPr>
          <c:invertIfNegative val="0"/>
          <c:dLbls>
            <c:numFmt formatCode="+0.0;-0.0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入聲偏差</c:v>
                  </c:pt>
                  <c:pt idx="1">
                    <c:v>舒聲偏差</c:v>
                  </c:pt>
                  <c:pt idx="2">
                    <c:v>入聲 − 舒聲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-1.5</c:v>
                </c:pt>
                <c:pt idx="1">
                  <c:v>-5.7</c:v>
                </c:pt>
                <c:pt idx="2">
                  <c:v>4.2</c:v>
                </c:pt>
              </c:numCache>
            </c:numRef>
          </c:val>
        </c:ser>
        <c:dLbls>
          <c:numFmt formatCode="+0.0;-0.0;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3EC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+mn-lt"/>
              </a:rPr>
              <a:t>入聲時長誤差 ET-VDE（ms，越低越好）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四縣
1234</c:v>
                  </c:pt>
                  <c:pt idx="1">
                    <c:v>四縣
123</c:v>
                  </c:pt>
                  <c:pt idx="2">
                    <c:v>四縣
2026</c:v>
                  </c:pt>
                  <c:pt idx="3">
                    <c:v>海陸
1234</c:v>
                  </c:pt>
                  <c:pt idx="4">
                    <c:v>海陸
123</c:v>
                  </c:pt>
                  <c:pt idx="5">
                    <c:v>海陸
2026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26</c:v>
                </c:pt>
                <c:pt idx="2">
                  <c:v>26.8</c:v>
                </c:pt>
                <c:pt idx="3">
                  <c:v>27.9</c:v>
                </c:pt>
                <c:pt idx="4">
                  <c:v>27.5</c:v>
                </c:pt>
                <c:pt idx="5">
                  <c:v>28.2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C2</c:v>
                </c:pt>
              </c:strCache>
            </c:strRef>
          </c:tx>
          <c:spPr>
            <a:solidFill>
              <a:srgbClr val="233D6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四縣
1234</c:v>
                  </c:pt>
                  <c:pt idx="1">
                    <c:v>四縣
123</c:v>
                  </c:pt>
                  <c:pt idx="2">
                    <c:v>四縣
2026</c:v>
                  </c:pt>
                  <c:pt idx="3">
                    <c:v>海陸
1234</c:v>
                  </c:pt>
                  <c:pt idx="4">
                    <c:v>海陸
123</c:v>
                  </c:pt>
                  <c:pt idx="5">
                    <c:v>海陸
2026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22.1</c:v>
                </c:pt>
                <c:pt idx="1">
                  <c:v>23.7</c:v>
                </c:pt>
                <c:pt idx="2">
                  <c:v>22.8</c:v>
                </c:pt>
                <c:pt idx="3">
                  <c:v>24.6</c:v>
                </c:pt>
                <c:pt idx="4">
                  <c:v>23.6</c:v>
                </c:pt>
                <c:pt idx="5">
                  <c:v>24.3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15"/>
        </c:scaling>
        <c:delete val="0"/>
        <c:axPos val="l"/>
        <c:majorGridlines>
          <c:spPr>
            <a:ln w="9525" cap="flat">
              <a:solidFill>
                <a:srgbClr val="DD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+mn-lt"/>
              </a:rPr>
              <a:t>C2 舒聲時長偏差（ms，波形量測）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非停頓前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+0.0;-0.0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四縣</c:v>
                  </c:pt>
                  <c:pt idx="1">
                    <c:v>海陸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</c:v>
                </c:pt>
                <c:pt idx="1">
                  <c:v>-2.6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停頓前</c:v>
                </c:pt>
              </c:strCache>
            </c:strRef>
          </c:tx>
          <c:spPr>
            <a:solidFill>
              <a:srgbClr val="D9433B"/>
            </a:solidFill>
            <a:effectLst/>
          </c:spPr>
          <c:invertIfNegative val="0"/>
          <c:dLbls>
            <c:numFmt formatCode="+0.0;-0.0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四縣</c:v>
                  </c:pt>
                  <c:pt idx="1">
                    <c:v>海陸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11.3</c:v>
                </c:pt>
                <c:pt idx="1">
                  <c:v>14.5</c:v>
                </c:pt>
              </c:numCache>
            </c:numRef>
          </c:val>
        </c:ser>
        <c:dLbls>
          <c:numFmt formatCode="+0.0;-0.0;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+mn-lt"/>
              </a:rPr>
              <a:t>停頓前舒聲偏差（ms，波形量測）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C2</c:v>
                </c:pt>
              </c:strCache>
            </c:strRef>
          </c:tx>
          <c:spPr>
            <a:solidFill>
              <a:srgbClr val="233D63"/>
            </a:solidFill>
            <a:effectLst/>
          </c:spPr>
          <c:invertIfNegative val="0"/>
          <c:dLbls>
            <c:numFmt formatCode="+0.0;-0.0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四縣</c:v>
                  </c:pt>
                  <c:pt idx="1">
                    <c:v>海陸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11.3</c:v>
                </c:pt>
                <c:pt idx="1">
                  <c:v>14.5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C3a（停頓前 × s_pp）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+0.0;-0.0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四縣</c:v>
                  </c:pt>
                  <c:pt idx="1">
                    <c:v>海陸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-11.2</c:v>
                </c:pt>
                <c:pt idx="1">
                  <c:v>9.5</c:v>
                </c:pt>
              </c:numCache>
            </c:numRef>
          </c:val>
        </c:ser>
        <c:dLbls>
          <c:numFmt formatCode="+0.0;-0.0;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+mn-lt"/>
              </a:rPr>
              <a:t>C2 入聲母音偏差（ms，正值 = 太長）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四縣</c:v>
                </c:pt>
              </c:strCache>
            </c:strRef>
          </c:tx>
          <c:spPr>
            <a:solidFill>
              <a:srgbClr val="233D63"/>
            </a:solidFill>
            <a:effectLst/>
          </c:spPr>
          <c:invertIfNegative val="0"/>
          <c:dLbls>
            <c:numFmt formatCode="+0.0;-0.0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-b 韻尾</c:v>
                  </c:pt>
                  <c:pt idx="1">
                    <c:v>-d 韻尾</c:v>
                  </c:pt>
                  <c:pt idx="2">
                    <c:v>-g 韻尾</c:v>
                  </c:pt>
                  <c:pt idx="3">
                    <c:v>陰入</c:v>
                  </c:pt>
                  <c:pt idx="4">
                    <c:v>陽入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-1.4</c:v>
                </c:pt>
                <c:pt idx="1">
                  <c:v>-4.4</c:v>
                </c:pt>
                <c:pt idx="2">
                  <c:v>-2.9</c:v>
                </c:pt>
                <c:pt idx="3">
                  <c:v>0</c:v>
                </c:pt>
                <c:pt idx="4">
                  <c:v>-10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海陸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+0.0;-0.0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-b 韻尾</c:v>
                  </c:pt>
                  <c:pt idx="1">
                    <c:v>-d 韻尾</c:v>
                  </c:pt>
                  <c:pt idx="2">
                    <c:v>-g 韻尾</c:v>
                  </c:pt>
                  <c:pt idx="3">
                    <c:v>陰入</c:v>
                  </c:pt>
                  <c:pt idx="4">
                    <c:v>陽入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13.4</c:v>
                </c:pt>
                <c:pt idx="1">
                  <c:v>4.1</c:v>
                </c:pt>
                <c:pt idx="2">
                  <c:v>-7.9</c:v>
                </c:pt>
                <c:pt idx="3">
                  <c:v>-0.9</c:v>
                </c:pt>
                <c:pt idx="4">
                  <c:v>3.5</c:v>
                </c:pt>
              </c:numCache>
            </c:numRef>
          </c:val>
        </c:ser>
        <c:dLbls>
          <c:numFmt formatCode="+0.0;-0.0;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這幾天的進度：時長建模 C2 完成三種子驗證、波形量測、C3 診斷與一次負面結果、線上聽測上線。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三個種子、兩個腔調，一共 6 次訓練，入聲誤差和相關都一致改善，音質 5 次改善、1 次持平。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這是最重要的方法論發現：原本以為 baseline 入聲太長，其實是量法造成的假象。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C2 只改時長的監督來源，模型、資料量、步數都一樣，所以比較是公平的。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主要標準（ET-VDE 下降、ρ 上升）6/6 通過；守門有兩次沒過，幅度都不大。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拆解後確定：停頓前偏長來自時長預測器本身，不是資料轉換的錯。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這是一次有效的負面結果：推論時用固定係數校正停頓前，換到別的句子集合就不準。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大部分類別都在 ±5 ms 內；四縣陽入和海陸 -g 是下一步要特別看的。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設計給不熟手機的長輩：不用下載、不用回傳檔案，中途離開會自動接續。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下一步先做聽測；C3b 要不要做，看聽者是否聽得出停頓前拖長。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客語 TTS 入聲時長建模 · 進度報告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低資源客語 TTS：入聲時長建模進度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C 時長建模 · D 波形邊界驗證 · E 感知評估 · F 入聲分組｜2026 年 10 月</a:t>
            </a:r>
            <a:endParaRPr lang="en-US" sz="1600" dirty="0"/>
          </a:p>
        </p:txBody>
      </p:sp>
      <p:sp>
        <p:nvSpPr>
          <p:cNvPr id="4" name="cover C circle"/>
          <p:cNvSpPr/>
          <p:nvPr/>
        </p:nvSpPr>
        <p:spPr>
          <a:xfrm>
            <a:off x="548640" y="3794760"/>
            <a:ext cx="566928" cy="566928"/>
          </a:xfrm>
          <a:prstGeom prst="ellipse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5" name="cover 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3930823"/>
            <a:ext cx="294803" cy="294803"/>
          </a:xfrm>
          <a:prstGeom prst="rect">
            <a:avLst/>
          </a:prstGeom>
        </p:spPr>
      </p:pic>
      <p:sp>
        <p:nvSpPr>
          <p:cNvPr id="6" name="cover D circle"/>
          <p:cNvSpPr/>
          <p:nvPr/>
        </p:nvSpPr>
        <p:spPr>
          <a:xfrm>
            <a:off x="1325880" y="3794760"/>
            <a:ext cx="566928" cy="566928"/>
          </a:xfrm>
          <a:prstGeom prst="ellipse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7" name="cover 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943" y="3930823"/>
            <a:ext cx="294803" cy="294803"/>
          </a:xfrm>
          <a:prstGeom prst="rect">
            <a:avLst/>
          </a:prstGeom>
        </p:spPr>
      </p:pic>
      <p:sp>
        <p:nvSpPr>
          <p:cNvPr id="8" name="cover E circle"/>
          <p:cNvSpPr/>
          <p:nvPr/>
        </p:nvSpPr>
        <p:spPr>
          <a:xfrm>
            <a:off x="2103120" y="3794760"/>
            <a:ext cx="566928" cy="566928"/>
          </a:xfrm>
          <a:prstGeom prst="ellipse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9" name="cover 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183" y="3930823"/>
            <a:ext cx="294803" cy="294803"/>
          </a:xfrm>
          <a:prstGeom prst="rect">
            <a:avLst/>
          </a:prstGeom>
        </p:spPr>
      </p:pic>
      <p:sp>
        <p:nvSpPr>
          <p:cNvPr id="10" name="cover F circle"/>
          <p:cNvSpPr/>
          <p:nvPr/>
        </p:nvSpPr>
        <p:spPr>
          <a:xfrm>
            <a:off x="2880360" y="3794760"/>
            <a:ext cx="566928" cy="566928"/>
          </a:xfrm>
          <a:prstGeom prst="ellipse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11" name="cover F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423" y="3930823"/>
            <a:ext cx="294803" cy="2948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成果：C2 在兩個腔調都穩定變好</a:t>
            </a:r>
            <a:endParaRPr lang="en-US" sz="3000" dirty="0"/>
          </a:p>
        </p:txBody>
      </p:sp>
      <p:sp>
        <p:nvSpPr>
          <p:cNvPr id="3" name="stat card 0"/>
          <p:cNvSpPr/>
          <p:nvPr/>
        </p:nvSpPr>
        <p:spPr>
          <a:xfrm>
            <a:off x="457200" y="1188720"/>
            <a:ext cx="1874520" cy="27432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0 circle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233D63"/>
          </a:solidFill>
          <a:ln w="12700">
            <a:solidFill>
              <a:srgbClr val="233D63"/>
            </a:solidFill>
            <a:prstDash val="solid"/>
          </a:ln>
        </p:spPr>
      </p:sp>
      <p:pic>
        <p:nvPicPr>
          <p:cNvPr id="5" name="stat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53802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03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−3.9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 ms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入聲誤差 ET-VDE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6 / 6 次訓練都下降</a:t>
            </a:r>
            <a:endParaRPr lang="en-US" sz="1200" dirty="0"/>
          </a:p>
        </p:txBody>
      </p:sp>
      <p:sp>
        <p:nvSpPr>
          <p:cNvPr id="9" name="stat card 1"/>
          <p:cNvSpPr/>
          <p:nvPr/>
        </p:nvSpPr>
        <p:spPr>
          <a:xfrm>
            <a:off x="2560320" y="1188720"/>
            <a:ext cx="1874520" cy="27432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1 circle"/>
          <p:cNvSpPr/>
          <p:nvPr/>
        </p:nvSpPr>
        <p:spPr>
          <a:xfrm>
            <a:off x="2743200" y="1417320"/>
            <a:ext cx="502920" cy="502920"/>
          </a:xfrm>
          <a:prstGeom prst="ellipse">
            <a:avLst/>
          </a:prstGeom>
          <a:solidFill>
            <a:srgbClr val="233D63"/>
          </a:solidFill>
          <a:ln w="12700">
            <a:solidFill>
              <a:srgbClr val="233D63"/>
            </a:solidFill>
            <a:prstDash val="solid"/>
          </a:ln>
        </p:spPr>
      </p:sp>
      <p:pic>
        <p:nvPicPr>
          <p:cNvPr id="11" name="stat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901" y="153802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43200" y="2103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+0.11</a:t>
            </a:r>
            <a:pPr indent="0" marL="0">
              <a:buNone/>
            </a:pP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2743200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入聲長短相關 ρ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743200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6 / 6 次訓練都上升</a:t>
            </a:r>
            <a:endParaRPr lang="en-US" sz="1200" dirty="0"/>
          </a:p>
        </p:txBody>
      </p:sp>
      <p:sp>
        <p:nvSpPr>
          <p:cNvPr id="15" name="stat card 2"/>
          <p:cNvSpPr/>
          <p:nvPr/>
        </p:nvSpPr>
        <p:spPr>
          <a:xfrm>
            <a:off x="4663440" y="1188720"/>
            <a:ext cx="1874520" cy="27432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at 2 circle"/>
          <p:cNvSpPr/>
          <p:nvPr/>
        </p:nvSpPr>
        <p:spPr>
          <a:xfrm>
            <a:off x="4846320" y="1417320"/>
            <a:ext cx="502920" cy="502920"/>
          </a:xfrm>
          <a:prstGeom prst="ellipse">
            <a:avLst/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pic>
        <p:nvPicPr>
          <p:cNvPr id="17" name="stat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021" y="1538021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46320" y="2103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−0.11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 dB</a:t>
            </a:r>
            <a:endParaRPr lang="en-US" sz="30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音質 MCD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5 / 6 次改善</a:t>
            </a:r>
            <a:endParaRPr lang="en-US" sz="1200" dirty="0"/>
          </a:p>
        </p:txBody>
      </p:sp>
      <p:sp>
        <p:nvSpPr>
          <p:cNvPr id="21" name="stat card 3"/>
          <p:cNvSpPr/>
          <p:nvPr/>
        </p:nvSpPr>
        <p:spPr>
          <a:xfrm>
            <a:off x="6766560" y="1188720"/>
            <a:ext cx="1874520" cy="27432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tat 3 circle"/>
          <p:cNvSpPr/>
          <p:nvPr/>
        </p:nvSpPr>
        <p:spPr>
          <a:xfrm>
            <a:off x="6949440" y="1417320"/>
            <a:ext cx="502920" cy="502920"/>
          </a:xfrm>
          <a:prstGeom prst="ellipse">
            <a:avLst/>
          </a:prstGeom>
          <a:solidFill>
            <a:srgbClr val="D9433B"/>
          </a:solidFill>
          <a:ln w="12700">
            <a:solidFill>
              <a:srgbClr val="D9433B"/>
            </a:solidFill>
            <a:prstDash val="solid"/>
          </a:ln>
        </p:spPr>
      </p:sp>
      <p:pic>
        <p:nvPicPr>
          <p:cNvPr id="23" name="stat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141" y="1538021"/>
            <a:ext cx="261518" cy="26151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49440" y="2103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2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 份</a:t>
            </a:r>
            <a:endParaRPr lang="en-US" sz="3000" dirty="0"/>
          </a:p>
        </p:txBody>
      </p:sp>
      <p:sp>
        <p:nvSpPr>
          <p:cNvPr id="25" name="Text 19"/>
          <p:cNvSpPr txBox="1"/>
          <p:nvPr/>
        </p:nvSpPr>
        <p:spPr>
          <a:xfrm>
            <a:off x="6949440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線上聽測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949440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四縣、海陸各一份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平均值：四縣、海陸 × 訓練種子 1234 / 123 / 2026，共 6 次；皆為 C2 − baseline、第 40000 步、波形量測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量法修正：attention 會誤判「入聲太長」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1206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"/>
          <p:cNvSpPr/>
          <p:nvPr/>
        </p:nvSpPr>
        <p:spPr>
          <a:xfrm>
            <a:off x="5852160" y="1051560"/>
            <a:ext cx="2834640" cy="324612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23444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9433B"/>
                </a:solidFill>
              </a:rPr>
              <a:t>+20 → −1.5 ms</a:t>
            </a:r>
            <a:endParaRPr lang="en-US" sz="26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</a:rPr>
              <a:t>attention 把 blank 算進母音，看起來偏長；直接量合成波形其實幾乎準確</a:t>
            </a:r>
            <a:endParaRPr lang="en-US" sz="2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33D63"/>
                </a:solidFill>
              </a:rPr>
              <a:t>四縣、海陸都一樣 → 之後一律用波形量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D1：合成音再用 MFA 對齊量母音時長；C2 的 attention 量與波形量相關 r = 0.90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方法 C2：用 MFA 時長監督訓練</a:t>
            </a:r>
            <a:endParaRPr lang="en-US" sz="3000" dirty="0"/>
          </a:p>
        </p:txBody>
      </p:sp>
      <p:sp>
        <p:nvSpPr>
          <p:cNvPr id="3" name="step card 0"/>
          <p:cNvSpPr/>
          <p:nvPr/>
        </p:nvSpPr>
        <p:spPr>
          <a:xfrm>
            <a:off x="457200" y="1325880"/>
            <a:ext cx="1783080" cy="237744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0 circle"/>
          <p:cNvSpPr/>
          <p:nvPr/>
        </p:nvSpPr>
        <p:spPr>
          <a:xfrm>
            <a:off x="982980" y="1554480"/>
            <a:ext cx="731520" cy="731520"/>
          </a:xfrm>
          <a:prstGeom prst="ellipse">
            <a:avLst/>
          </a:prstGeom>
          <a:solidFill>
            <a:srgbClr val="233D63"/>
          </a:solidFill>
          <a:ln w="12700">
            <a:solidFill>
              <a:srgbClr val="233D63"/>
            </a:solidFill>
            <a:prstDash val="solid"/>
          </a:ln>
        </p:spPr>
      </p:sp>
      <p:pic>
        <p:nvPicPr>
          <p:cNvPr id="5" name="step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545" y="173004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4231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真人錄音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8803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MFA 對齊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得到音素邊界</a:t>
            </a:r>
            <a:endParaRPr lang="en-US" sz="1200" dirty="0"/>
          </a:p>
        </p:txBody>
      </p:sp>
      <p:sp>
        <p:nvSpPr>
          <p:cNvPr id="8" name="arrow 0"/>
          <p:cNvSpPr/>
          <p:nvPr/>
        </p:nvSpPr>
        <p:spPr>
          <a:xfrm>
            <a:off x="2313432" y="2331720"/>
            <a:ext cx="219456" cy="320040"/>
          </a:xfrm>
          <a:prstGeom prst="rightArrow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9" name="step card 1"/>
          <p:cNvSpPr/>
          <p:nvPr/>
        </p:nvSpPr>
        <p:spPr>
          <a:xfrm>
            <a:off x="2606040" y="1325880"/>
            <a:ext cx="1783080" cy="237744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 1 circle"/>
          <p:cNvSpPr/>
          <p:nvPr/>
        </p:nvSpPr>
        <p:spPr>
          <a:xfrm>
            <a:off x="3131820" y="1554480"/>
            <a:ext cx="731520" cy="731520"/>
          </a:xfrm>
          <a:prstGeom prst="ellipse">
            <a:avLst/>
          </a:prstGeom>
          <a:solidFill>
            <a:srgbClr val="233D63"/>
          </a:solidFill>
          <a:ln w="12700">
            <a:solidFill>
              <a:srgbClr val="233D63"/>
            </a:solidFill>
            <a:prstDash val="solid"/>
          </a:ln>
        </p:spPr>
      </p:sp>
      <p:pic>
        <p:nvPicPr>
          <p:cNvPr id="11" name="step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385" y="173004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97480" y="24231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轉成 frame 數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28803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每個音素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對應幾個 frame</a:t>
            </a:r>
            <a:endParaRPr lang="en-US" sz="1200" dirty="0"/>
          </a:p>
        </p:txBody>
      </p:sp>
      <p:sp>
        <p:nvSpPr>
          <p:cNvPr id="14" name="arrow 1"/>
          <p:cNvSpPr/>
          <p:nvPr/>
        </p:nvSpPr>
        <p:spPr>
          <a:xfrm>
            <a:off x="4462272" y="2331720"/>
            <a:ext cx="219456" cy="320040"/>
          </a:xfrm>
          <a:prstGeom prst="rightArrow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5" name="step card 2"/>
          <p:cNvSpPr/>
          <p:nvPr/>
        </p:nvSpPr>
        <p:spPr>
          <a:xfrm>
            <a:off x="4754880" y="1325880"/>
            <a:ext cx="1783080" cy="237744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 2 circle"/>
          <p:cNvSpPr/>
          <p:nvPr/>
        </p:nvSpPr>
        <p:spPr>
          <a:xfrm>
            <a:off x="5280660" y="1554480"/>
            <a:ext cx="731520" cy="731520"/>
          </a:xfrm>
          <a:prstGeom prst="ellipse">
            <a:avLst/>
          </a:prstGeom>
          <a:solidFill>
            <a:srgbClr val="233D63"/>
          </a:solidFill>
          <a:ln w="12700">
            <a:solidFill>
              <a:srgbClr val="233D63"/>
            </a:solidFill>
            <a:prstDash val="solid"/>
          </a:ln>
        </p:spPr>
      </p:sp>
      <p:pic>
        <p:nvPicPr>
          <p:cNvPr id="17" name="step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225" y="173004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46320" y="24231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Matcha 訓練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28803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時長預測器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學 MFA 時長</a:t>
            </a:r>
            <a:endParaRPr lang="en-US" sz="1200" dirty="0"/>
          </a:p>
        </p:txBody>
      </p:sp>
      <p:sp>
        <p:nvSpPr>
          <p:cNvPr id="20" name="arrow 2"/>
          <p:cNvSpPr/>
          <p:nvPr/>
        </p:nvSpPr>
        <p:spPr>
          <a:xfrm>
            <a:off x="6611112" y="2331720"/>
            <a:ext cx="219456" cy="320040"/>
          </a:xfrm>
          <a:prstGeom prst="rightArrow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21" name="step card 3"/>
          <p:cNvSpPr/>
          <p:nvPr/>
        </p:nvSpPr>
        <p:spPr>
          <a:xfrm>
            <a:off x="6903720" y="1325880"/>
            <a:ext cx="1783080" cy="237744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tep 3 circle"/>
          <p:cNvSpPr/>
          <p:nvPr/>
        </p:nvSpPr>
        <p:spPr>
          <a:xfrm>
            <a:off x="7429500" y="1554480"/>
            <a:ext cx="731520" cy="731520"/>
          </a:xfrm>
          <a:prstGeom prst="ellipse">
            <a:avLst/>
          </a:prstGeom>
          <a:solidFill>
            <a:srgbClr val="233D63"/>
          </a:solidFill>
          <a:ln w="12700">
            <a:solidFill>
              <a:srgbClr val="233D63"/>
            </a:solidFill>
            <a:prstDash val="solid"/>
          </a:ln>
        </p:spPr>
      </p:sp>
      <p:pic>
        <p:nvPicPr>
          <p:cNvPr id="23" name="step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5065" y="1730045"/>
            <a:ext cx="380390" cy="38039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95160" y="24231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合成 → 再量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995160" y="28803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MFA 對齊合成音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算時長指標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baseline：時長由模型訓練時自己對齊（MAS）；C2：直接用 MFA 時長監督，其餘設定相同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C2 結果：6 次訓練的入聲誤差都下降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097280"/>
          <a:ext cx="31089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594360"/>
                <a:gridCol w="685800"/>
                <a:gridCol w="960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訓練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D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Δρ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D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ΔMCD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D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守門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D6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四縣 1234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+0.14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−0.11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四縣 123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+0.08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−0.11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433B"/>
                          </a:solidFill>
                        </a:rPr>
                        <a:t>✗ 舒聲 +7.6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四縣 2026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+0.13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−0.16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海陸 1234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+0.09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−0.17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海陸 123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+0.10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−0.15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海陸 2026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+0.12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+0.02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433B"/>
                          </a:solidFill>
                        </a:rPr>
                        <a:t>✗ F0 +0.07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守門：舒聲偏差增加 ≤ 5 ms、MCD 增加 ≤ 0.1 dB、F0 增加 ≤ 0.05 st；兩次未過都照實報告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剩下的問題：停頓前的母音唸太長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47548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iag 0 circle"/>
          <p:cNvSpPr/>
          <p:nvPr/>
        </p:nvSpPr>
        <p:spPr>
          <a:xfrm>
            <a:off x="5486400" y="1097280"/>
            <a:ext cx="502920" cy="502920"/>
          </a:xfrm>
          <a:prstGeom prst="ellipse">
            <a:avLst/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pic>
        <p:nvPicPr>
          <p:cNvPr id="5" name="diag 0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101" y="1217981"/>
            <a:ext cx="261518" cy="26151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26480" y="10789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訓練目標沒問題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612648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停頓前的 MFA 時長 ≈ 參考值</a:t>
            </a:r>
            <a:endParaRPr lang="en-US" sz="1200" dirty="0"/>
          </a:p>
        </p:txBody>
      </p:sp>
      <p:sp>
        <p:nvSpPr>
          <p:cNvPr id="8" name="diag 1 circle"/>
          <p:cNvSpPr/>
          <p:nvPr/>
        </p:nvSpPr>
        <p:spPr>
          <a:xfrm>
            <a:off x="5486400" y="2148840"/>
            <a:ext cx="502920" cy="502920"/>
          </a:xfrm>
          <a:prstGeom prst="ellipse">
            <a:avLst/>
          </a:prstGeom>
          <a:solidFill>
            <a:srgbClr val="D9433B"/>
          </a:solidFill>
          <a:ln w="12700">
            <a:solidFill>
              <a:srgbClr val="D9433B"/>
            </a:solidFill>
            <a:prstDash val="solid"/>
          </a:ln>
        </p:spPr>
      </p:sp>
      <p:pic>
        <p:nvPicPr>
          <p:cNvPr id="9" name="diag 1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101" y="2269541"/>
            <a:ext cx="261518" cy="26151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126480" y="21305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是時長預測器學偏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6126480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訓練句、測試句、波形都偏長</a:t>
            </a:r>
            <a:endParaRPr lang="en-US" sz="1200" dirty="0"/>
          </a:p>
        </p:txBody>
      </p:sp>
      <p:sp>
        <p:nvSpPr>
          <p:cNvPr id="12" name="diag 2 circle"/>
          <p:cNvSpPr/>
          <p:nvPr/>
        </p:nvSpPr>
        <p:spPr>
          <a:xfrm>
            <a:off x="5486400" y="3200400"/>
            <a:ext cx="502920" cy="502920"/>
          </a:xfrm>
          <a:prstGeom prst="ellipse">
            <a:avLst/>
          </a:prstGeom>
          <a:solidFill>
            <a:srgbClr val="233D63"/>
          </a:solidFill>
          <a:ln w="12700">
            <a:solidFill>
              <a:srgbClr val="233D63"/>
            </a:solidFill>
            <a:prstDash val="solid"/>
          </a:ln>
        </p:spPr>
      </p:sp>
      <p:pic>
        <p:nvPicPr>
          <p:cNvPr id="13" name="diag 2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7101" y="3321101"/>
            <a:ext cx="261518" cy="26151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126480" y="31821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非停頓前其實準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612648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母音本身誤差約 0 ~ −4 ms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診斷工具 c3_target_check：把偏差拆成 訓練目標 / blank 靜音 / 預測器 / 取整（取整固定 +6~8 ms）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C3a 推論時縮放：沒有成功（負面結果）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47548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0" y="1097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為什麼失敗：驗證集和測試集偏長程度差很多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783080"/>
          <a:ext cx="3200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停頓前偏長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D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驗證集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D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測試集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D6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</a:rPr>
                        <a:t>四縣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433B"/>
                          </a:solidFill>
                        </a:rPr>
                        <a:t>+22.6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</a:rPr>
                        <a:t>+6.3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</a:rPr>
                        <a:t>海陸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</a:rPr>
                        <a:t>+3.4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433B"/>
                          </a:solidFill>
                        </a:rPr>
                        <a:t>+12.7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0" y="3154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433B"/>
                </a:solidFill>
              </a:rPr>
              <a:t>拉長多少隨錄音而變 → 單一係數無法搬到新句子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s_pp 只用驗證集估（四縣 0.89、海陸 0.98）；句末 vs 句中停頓前的比例三個集合都相近，不是原因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入聲分組（F1）：哪一類還不準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486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1 card 0"/>
          <p:cNvSpPr/>
          <p:nvPr/>
        </p:nvSpPr>
        <p:spPr>
          <a:xfrm>
            <a:off x="6217920" y="1097280"/>
            <a:ext cx="24688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5508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四縣 陽入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406640" y="11704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433B"/>
                </a:solidFill>
              </a:rPr>
              <a:t>−10 ms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偏短，種子 1234</a:t>
            </a:r>
            <a:endParaRPr lang="en-US" sz="1100" dirty="0"/>
          </a:p>
        </p:txBody>
      </p:sp>
      <p:sp>
        <p:nvSpPr>
          <p:cNvPr id="8" name="f1 card 1"/>
          <p:cNvSpPr/>
          <p:nvPr/>
        </p:nvSpPr>
        <p:spPr>
          <a:xfrm>
            <a:off x="6217920" y="2167128"/>
            <a:ext cx="24688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5080" y="22585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海陸 -g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406640" y="2240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433B"/>
                </a:solidFill>
              </a:rPr>
              <a:t>−8 ms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26700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偏短</a:t>
            </a:r>
            <a:endParaRPr lang="en-US" sz="1100" dirty="0"/>
          </a:p>
        </p:txBody>
      </p:sp>
      <p:sp>
        <p:nvSpPr>
          <p:cNvPr id="12" name="f1 card 2"/>
          <p:cNvSpPr/>
          <p:nvPr/>
        </p:nvSpPr>
        <p:spPr>
          <a:xfrm>
            <a:off x="6217920" y="3236976"/>
            <a:ext cx="24688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55080" y="3328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海陸 -b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33101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433B"/>
                </a:solidFill>
              </a:rPr>
              <a:t>+13 ms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373989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只有 29 個，先不下結論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波形量測、種子 1234、測試集 100 句；調類依各腔調對應（四縣陰入 2 / 陽入 5，海陸相反）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E2 線上聽測：長輩點連結就能做</a:t>
            </a:r>
            <a:endParaRPr lang="en-US" sz="3000" dirty="0"/>
          </a:p>
        </p:txBody>
      </p:sp>
      <p:sp>
        <p:nvSpPr>
          <p:cNvPr id="3" name="e2 card 0"/>
          <p:cNvSpPr/>
          <p:nvPr/>
        </p:nvSpPr>
        <p:spPr>
          <a:xfrm>
            <a:off x="457200" y="1097280"/>
            <a:ext cx="1783080" cy="196596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2 0 circle"/>
          <p:cNvSpPr/>
          <p:nvPr/>
        </p:nvSpPr>
        <p:spPr>
          <a:xfrm>
            <a:off x="1051560" y="1280160"/>
            <a:ext cx="594360" cy="594360"/>
          </a:xfrm>
          <a:prstGeom prst="ellipse">
            <a:avLst/>
          </a:prstGeom>
          <a:solidFill>
            <a:srgbClr val="D9433B"/>
          </a:solidFill>
          <a:ln w="12700">
            <a:solidFill>
              <a:srgbClr val="D9433B"/>
            </a:solidFill>
            <a:prstDash val="solid"/>
          </a:ln>
        </p:spPr>
      </p:sp>
      <p:pic>
        <p:nvPicPr>
          <p:cNvPr id="5" name="e2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206" y="1422806"/>
            <a:ext cx="309067" cy="309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LINE 傳連結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5915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點開就能聽</a:t>
            </a:r>
            <a:endParaRPr lang="en-US" sz="1100" dirty="0"/>
          </a:p>
        </p:txBody>
      </p:sp>
      <p:sp>
        <p:nvSpPr>
          <p:cNvPr id="8" name="e2 arrow 0"/>
          <p:cNvSpPr/>
          <p:nvPr/>
        </p:nvSpPr>
        <p:spPr>
          <a:xfrm>
            <a:off x="2313432" y="1874520"/>
            <a:ext cx="219456" cy="320040"/>
          </a:xfrm>
          <a:prstGeom prst="rightArrow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9" name="e2 card 1"/>
          <p:cNvSpPr/>
          <p:nvPr/>
        </p:nvSpPr>
        <p:spPr>
          <a:xfrm>
            <a:off x="2606040" y="1097280"/>
            <a:ext cx="1783080" cy="196596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e2 1 circle"/>
          <p:cNvSpPr/>
          <p:nvPr/>
        </p:nvSpPr>
        <p:spPr>
          <a:xfrm>
            <a:off x="3200400" y="1280160"/>
            <a:ext cx="594360" cy="594360"/>
          </a:xfrm>
          <a:prstGeom prst="ellipse">
            <a:avLst/>
          </a:prstGeom>
          <a:solidFill>
            <a:srgbClr val="D9433B"/>
          </a:solidFill>
          <a:ln w="12700">
            <a:solidFill>
              <a:srgbClr val="D9433B"/>
            </a:solidFill>
            <a:prstDash val="solid"/>
          </a:ln>
        </p:spPr>
      </p:sp>
      <p:pic>
        <p:nvPicPr>
          <p:cNvPr id="11" name="e2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046" y="142280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9748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手機作答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235915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大字大按鈕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兩段聽完才能選</a:t>
            </a:r>
            <a:endParaRPr lang="en-US" sz="1100" dirty="0"/>
          </a:p>
        </p:txBody>
      </p:sp>
      <p:sp>
        <p:nvSpPr>
          <p:cNvPr id="14" name="e2 arrow 1"/>
          <p:cNvSpPr/>
          <p:nvPr/>
        </p:nvSpPr>
        <p:spPr>
          <a:xfrm>
            <a:off x="4462272" y="1874520"/>
            <a:ext cx="219456" cy="320040"/>
          </a:xfrm>
          <a:prstGeom prst="rightArrow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5" name="e2 card 2"/>
          <p:cNvSpPr/>
          <p:nvPr/>
        </p:nvSpPr>
        <p:spPr>
          <a:xfrm>
            <a:off x="4754880" y="1097280"/>
            <a:ext cx="1783080" cy="196596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e2 2 circle"/>
          <p:cNvSpPr/>
          <p:nvPr/>
        </p:nvSpPr>
        <p:spPr>
          <a:xfrm>
            <a:off x="5349240" y="1280160"/>
            <a:ext cx="594360" cy="594360"/>
          </a:xfrm>
          <a:prstGeom prst="ellipse">
            <a:avLst/>
          </a:prstGeom>
          <a:solidFill>
            <a:srgbClr val="D9433B"/>
          </a:solidFill>
          <a:ln w="12700">
            <a:solidFill>
              <a:srgbClr val="D9433B"/>
            </a:solidFill>
            <a:prstDash val="solid"/>
          </a:ln>
        </p:spPr>
      </p:sp>
      <p:pic>
        <p:nvPicPr>
          <p:cNvPr id="17" name="e2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886" y="1422806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4632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自動回收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235915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每答一題就存進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Google 試算表</a:t>
            </a:r>
            <a:endParaRPr lang="en-US" sz="1100" dirty="0"/>
          </a:p>
        </p:txBody>
      </p:sp>
      <p:sp>
        <p:nvSpPr>
          <p:cNvPr id="20" name="e2 arrow 2"/>
          <p:cNvSpPr/>
          <p:nvPr/>
        </p:nvSpPr>
        <p:spPr>
          <a:xfrm>
            <a:off x="6611112" y="1874520"/>
            <a:ext cx="219456" cy="320040"/>
          </a:xfrm>
          <a:prstGeom prst="rightArrow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21" name="e2 card 3"/>
          <p:cNvSpPr/>
          <p:nvPr/>
        </p:nvSpPr>
        <p:spPr>
          <a:xfrm>
            <a:off x="6903720" y="1097280"/>
            <a:ext cx="1783080" cy="196596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e2 3 circle"/>
          <p:cNvSpPr/>
          <p:nvPr/>
        </p:nvSpPr>
        <p:spPr>
          <a:xfrm>
            <a:off x="7498080" y="1280160"/>
            <a:ext cx="594360" cy="594360"/>
          </a:xfrm>
          <a:prstGeom prst="ellipse">
            <a:avLst/>
          </a:prstGeom>
          <a:solidFill>
            <a:srgbClr val="D9433B"/>
          </a:solidFill>
          <a:ln w="12700">
            <a:solidFill>
              <a:srgbClr val="D9433B"/>
            </a:solidFill>
            <a:prstDash val="solid"/>
          </a:ln>
        </p:spPr>
      </p:sp>
      <p:pic>
        <p:nvPicPr>
          <p:cNvPr id="23" name="e2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726" y="1422806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9516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分析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995160" y="235915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CMOS + 交叉重抽 CI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自動排除亂答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1005840"/>
                <a:gridCol w="246888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比較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D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題數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D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時間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D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問題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D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狀態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D6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baseline vs C2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30 + 2 檢查題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約 14 分鐘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整體自然度、入聲自然度（7 點）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海陸已上線、四縣上傳中</a:t>
                      </a:r>
                      <a:endParaRPr lang="en-US" sz="1100" dirty="0"/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0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海陸：hakka-hailu-tests.netlify.app；兩段都是模型合成，左右順序隨機，答案對照表只在研究者手上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後續進度</a:t>
            </a:r>
            <a:endParaRPr lang="en-US" sz="3200" dirty="0"/>
          </a:p>
        </p:txBody>
      </p:sp>
      <p:sp>
        <p:nvSpPr>
          <p:cNvPr id="3" name="timeline"/>
          <p:cNvSpPr/>
          <p:nvPr/>
        </p:nvSpPr>
        <p:spPr>
          <a:xfrm>
            <a:off x="1097280" y="1965960"/>
            <a:ext cx="6949440" cy="0"/>
          </a:xfrm>
          <a:prstGeom prst="line">
            <a:avLst/>
          </a:prstGeom>
          <a:noFill/>
          <a:ln w="25400">
            <a:solidFill>
              <a:srgbClr val="9AA5B1"/>
            </a:solidFill>
            <a:prstDash val="dash"/>
          </a:ln>
        </p:spPr>
      </p:sp>
      <p:sp>
        <p:nvSpPr>
          <p:cNvPr id="4" name="next 0 circle"/>
          <p:cNvSpPr/>
          <p:nvPr/>
        </p:nvSpPr>
        <p:spPr>
          <a:xfrm>
            <a:off x="713232" y="1581912"/>
            <a:ext cx="768096" cy="768096"/>
          </a:xfrm>
          <a:prstGeom prst="ellipse">
            <a:avLst/>
          </a:prstGeom>
          <a:solidFill>
            <a:srgbClr val="D9433B"/>
          </a:solidFill>
          <a:ln w="12700">
            <a:solidFill>
              <a:srgbClr val="D9433B"/>
            </a:solidFill>
            <a:prstDash val="solid"/>
          </a:ln>
        </p:spPr>
      </p:sp>
      <p:pic>
        <p:nvPicPr>
          <p:cNvPr id="5" name="next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575" y="1766255"/>
            <a:ext cx="399410" cy="3994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1. E2 聽測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91440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先找 3–5 人試聽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再正式招募</a:t>
            </a:r>
            <a:endParaRPr lang="en-US" sz="1300" dirty="0"/>
          </a:p>
        </p:txBody>
      </p:sp>
      <p:sp>
        <p:nvSpPr>
          <p:cNvPr id="8" name="next 1 circle"/>
          <p:cNvSpPr/>
          <p:nvPr/>
        </p:nvSpPr>
        <p:spPr>
          <a:xfrm>
            <a:off x="3026664" y="1581912"/>
            <a:ext cx="768096" cy="768096"/>
          </a:xfrm>
          <a:prstGeom prst="ellipse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9" name="next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007" y="1766255"/>
            <a:ext cx="399410" cy="39941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404872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2. D3 專家手標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2404872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約 60 個入聲字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驗證 MFA 量測</a:t>
            </a:r>
            <a:endParaRPr lang="en-US" sz="1300" dirty="0"/>
          </a:p>
        </p:txBody>
      </p:sp>
      <p:sp>
        <p:nvSpPr>
          <p:cNvPr id="12" name="next 2 circle"/>
          <p:cNvSpPr/>
          <p:nvPr/>
        </p:nvSpPr>
        <p:spPr>
          <a:xfrm>
            <a:off x="5340096" y="1581912"/>
            <a:ext cx="768096" cy="768096"/>
          </a:xfrm>
          <a:prstGeom prst="ellipse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13" name="next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439" y="1766255"/>
            <a:ext cx="399410" cy="39941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718304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3. C3b 改模型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718304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依聽測結果決定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是否修停頓前</a:t>
            </a:r>
            <a:endParaRPr lang="en-US" sz="1300" dirty="0"/>
          </a:p>
        </p:txBody>
      </p:sp>
      <p:sp>
        <p:nvSpPr>
          <p:cNvPr id="16" name="next 3 circle"/>
          <p:cNvSpPr/>
          <p:nvPr/>
        </p:nvSpPr>
        <p:spPr>
          <a:xfrm>
            <a:off x="7653528" y="1581912"/>
            <a:ext cx="768096" cy="768096"/>
          </a:xfrm>
          <a:prstGeom prst="ellipse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17" name="next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871" y="1766255"/>
            <a:ext cx="399410" cy="39941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31736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4. 整理論文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7031736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C2 主結果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量法發現、負面結果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D3 特別看句末入聲：MFA 在「不除阻塞音 + 靜音」交界最可能不準</a:t>
            </a:r>
            <a:endParaRPr lang="en-US" sz="1200" dirty="0"/>
          </a:p>
        </p:txBody>
      </p:sp>
      <p:sp>
        <p:nvSpPr>
          <p:cNvPr id="2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3600" dirty="0"/>
          </a:p>
        </p:txBody>
      </p:sp>
      <p:sp>
        <p:nvSpPr>
          <p:cNvPr id="23" name="Text 0"/>
          <p:cNvSpPr/>
          <p:nvPr>
            <p:ph idx="101" type="body" hasCustomPrompt="1"/>
          </p:nvPr>
        </p:nvSpPr>
        <p:spPr>
          <a:xfrm>
            <a:off x="548640" y="2560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kka Indigo">
  <a:themeElements>
    <a:clrScheme name="Hakka Indigo">
      <a:dk1>
        <a:srgbClr val="1B2A41"/>
      </a:dk1>
      <a:lt1>
        <a:srgbClr val="FFFFFF"/>
      </a:lt1>
      <a:dk2>
        <a:srgbClr val="233D63"/>
      </a:dk2>
      <a:lt2>
        <a:srgbClr val="EEF2F8"/>
      </a:lt2>
      <a:accent1>
        <a:srgbClr val="233D63"/>
      </a:accent1>
      <a:accent2>
        <a:srgbClr val="D9433B"/>
      </a:accent2>
      <a:accent3>
        <a:srgbClr val="9AA5B1"/>
      </a:accent3>
      <a:accent4>
        <a:srgbClr val="2E8B6E"/>
      </a:accent4>
      <a:accent5>
        <a:srgbClr val="E9A23B"/>
      </a:accent5>
      <a:accent6>
        <a:srgbClr val="5B6B7D"/>
      </a:accent6>
      <a:hlink>
        <a:srgbClr val="233D63"/>
      </a:hlink>
      <a:folHlink>
        <a:srgbClr val="5B6B7D"/>
      </a:folHlink>
    </a:clrScheme>
    <a:fontScheme name="Hakka Indigo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客語 TTS 入聲時長建模進度報告</dc:title>
  <dc:subject>PptxGenJS Presentation</dc:subject>
  <dc:creator>PptxGenJS</dc:creator>
  <cp:lastModifiedBy>PptxGenJS</cp:lastModifiedBy>
  <cp:revision>1</cp:revision>
  <dcterms:created xsi:type="dcterms:W3CDTF">2026-10-12T16:31:41Z</dcterms:created>
  <dcterms:modified xsi:type="dcterms:W3CDTF">2026-10-12T16:31:41Z</dcterms:modified>
</cp:coreProperties>
</file>